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Simulation de Client Bancaire par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10B981"/>
                </a:solidFill>
                <a:latin typeface="Arial"/>
              </a:defRPr>
            </a:pPr>
            <a:r>
              <a:t>Plateforme de Fine-Tuning BMCI &amp; Agent Vocal Interactif Temps Réel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Contexte du Stage R&amp;D : Conception et évaluation d'agents conversationnels intelligents pour la formation interne des conseillers bancaires de la BMCI.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Objectif Principal : Remplacer les simulations scriptées classiques par un agent IA doté d'une personnalité réactive, capable de simuler un client réaliste, impatient et mécontent.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Architecture Hybride : Combinaison de modèles de langage légers fine-tunés en local, d'un framework d'évaluation Streamlit et d'un agent vocal WebRTC en direct via LiveKit.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Le Cas d'Usage de la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10B981"/>
                </a:solidFill>
                <a:latin typeface="Arial"/>
              </a:defRPr>
            </a:pPr>
            <a:r>
              <a:t>Incarner le Client Mécontent (M. Orens)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Le Scénario Métier : Retrait urgent de 100 000 DH pour finaliser l'achat d'une maison aujourd'hui avant midi. Le vendeur menace de vendre à un autre acheteur si les fonds ne sont pas remis.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Le Conflit Réglementaire : La politique de sécurité BMCI limite les retraits immédiats en espèces à 50 000 DH par jour sans préavis. Le conseiller doit calmer le client et négocier une alternative.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Exigences Techniques Clés :</a:t>
            </a:r>
          </a:p>
          <a:p>
            <a:pPr lvl="1">
              <a:spcAft>
                <a:spcPts val="8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  - Intonation Émotionnelle : La voix de l'IA doit exprimer une colère et une impatience audibles.</a:t>
            </a:r>
          </a:p>
          <a:p>
            <a:pPr lvl="1">
              <a:spcAft>
                <a:spcPts val="8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  - Barge-in (Interruption) : L'agent doit s'arrêter de parler dès que l'apprenant prend la parole.</a:t>
            </a:r>
          </a:p>
          <a:p>
            <a:pPr lvl="1">
              <a:spcAft>
                <a:spcPts val="8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  - Latence de Conversation : Le temps de réponse doit être inférieur à 1,5s pour rester naturel.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Phase 1 : Dataset &amp; Fine-Tuning 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10B981"/>
                </a:solidFill>
                <a:latin typeface="Arial"/>
              </a:defRPr>
            </a:pPr>
            <a:r>
              <a:t>Adapter les LLMs au Métier Bancaire et au Jeu de Rôle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Constitution du Dataset BMCI : Création d'un ensemble de données en français simulant des conversations client-conseiller sur 9 thématiques (carte bloquée, crédit, frais bancaires, chèque, plafond...).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Fine-Tuning LoRA (Low-Rank Adaptation) : Entraînement sur architectures légères (Qwen, SmolLM2, TinyLlama, BloomZ, CroissantLLM) pour permettre l'exécution sur des PC d'agences sans ressources GPU.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Résultat Principal : Le modèle 'Qwen2.5-0.5B-BMCI-Client-Finetune-1' est retenu comme le plus exploitable en local, offrant une bonne réactivité et un respect satisfaisant de la langue française.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Phase 1 : Difficultés du Fine-Tuning 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10B981"/>
                </a:solidFill>
                <a:latin typeface="Arial"/>
              </a:defRPr>
            </a:pPr>
            <a:r>
              <a:t>Contraintes Techniques &amp; Matérielles Surmontées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Respect du Rôle (Sortie de Rôle) : Les modèles instruct ont tendance à conseiller l'utilisateur au lieu de jouer le client mécontent. Résolu par des prompts système stricts et des filtres post-génération.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Dérives Contextuelles : Le modèle fine-tuné dérive parfois du scénario d'origine (ex: parler de crédit au milieu d'un cas de carte bloquée). Nécessite un enrichissement du dataset avec des cas de recentrage.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Absence de GPU NVIDIA Local : GPU Intel Windows incompatible CUDA. Obligation de basculer l'entraînement LoRA sur Kaggle/Colab et de bloquer localement Mistral 7B pour éviter les crashs de RAM.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Checkpoints et Dépendances : Déconnexions fréquentes sur Colab/Kaggle perdant les checkpoints. Implémentation d'une sauvegarde automatique vers Google Drive et résolution des conflits packages peft/transformers.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Phase 1 : Streamlit &amp; Évaluation des Modèles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10B981"/>
                </a:solidFill>
                <a:latin typeface="Arial"/>
              </a:defRPr>
            </a:pPr>
            <a:r>
              <a:t>Mesurer les Progrès et Sécuriser la Sortie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Interface Streamlit Adaptée : Ajout d'un onglet de Chat Client BMCI, d'un onglet d'Évaluation automatique, et d'un système de blocage des réponses hors-rôle.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Framework d'Évaluation Automatique :</a:t>
            </a:r>
          </a:p>
          <a:p>
            <a:pPr lvl="1">
              <a:spcAft>
                <a:spcPts val="8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  - Scénarios Multi-Modèles (approche Promptfoo) : Comparaison des réponses face à des cas de Red-Teaming.</a:t>
            </a:r>
          </a:p>
          <a:p>
            <a:pPr lvl="1">
              <a:spcAft>
                <a:spcPts val="8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  - Scoring G-Eval / DeepEval (LLM-as-a-judge) : Évaluation par des LLMs supérieurs des critères de rôle, pertinence, et concision.</a:t>
            </a:r>
          </a:p>
          <a:p>
            <a:pPr lvl="1">
              <a:spcAft>
                <a:spcPts val="800"/>
              </a:spcAft>
              <a:defRPr sz="1600">
                <a:solidFill>
                  <a:srgbClr val="E2E8F0"/>
                </a:solidFill>
                <a:latin typeface="Arial"/>
              </a:defRPr>
            </a:pPr>
            <a:r>
              <a:t>  - Fidélité (proxy RAGAS) : Mesure de la cohérence logique et détection d'hallucinations.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Phase 2 : Benchmark STT (Reconnaissance Vocale)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10B981"/>
                </a:solidFill>
                <a:latin typeface="Arial"/>
              </a:defRPr>
            </a:pPr>
            <a:r>
              <a:t>Modèle Réussi vs. Tests Non Concluants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•  🟢 Réussite - Cohere Transcribe v2 (Cloud) : Taux d'erreur de mots (WER) de 5.82%. Très précis, ultra-rapide en streaming, et extrêmement robuste aux bruits de fond d'agence et aux accents.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🔴 Non Concluant - ElevenLabs Scribe v2 (Cloud) : Précision exceptionnelle (WER 3.12%), mais sa latence de 21 secondes le rend totalement inutilisable pour une conversation vocale en direct.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🔴 Non Concluant - Whisper Large-Turbo (Local) : Taux d'erreur correct (6.03%), mais demande 132s de traitement CPU pour 3 min de voix. Impossible à utiliser sans carte graphique NVIDIA locale.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Phase 2 : Benchmark TTS (Synthèse Vocale)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10B981"/>
                </a:solidFill>
                <a:latin typeface="Arial"/>
              </a:defRPr>
            </a:pPr>
            <a:r>
              <a:t>Modèle Réussi vs. Tests Non Concluants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•  🟢 Réussite - Mistral Voxtral (Marie angry) : Voix nativement en colère extrêmement réaliste. Latence réseau faible (1.57s) et quotas d'API très fiables pour les phases de test.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🔴 Non Concluant - Hume AI (Cloud) : Qualité vocale et naturelle inégalées (MOS 4.03), mais l'API d'essai gratuite s'est bloquée sous l'effet d'erreurs HTTP 429 (Too Many Requests) lors d'échanges rapides.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🔴 Non Concluant - F5-TTS (Local) : Qualité de clonage excellente (MOS 3.79), mais demande 128s de calcul sur CPU local pour 3s de voix. Inexploitable en direct.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🔴 Non Concluant - Kokoro &amp; MeloTTS (Locaux) : Inférence plus rapide, mais voix françaises trop robotiques, plates, et incapables de restituer l'intonation fâchée ou agressive.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Phase 3 : Agent Vocal Temps Réel (LiveKit)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10B981"/>
                </a:solidFill>
                <a:latin typeface="Arial"/>
              </a:defRPr>
            </a:pPr>
            <a:r>
              <a:t>Une Expérience Conversationnelle Fluide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•  Avantages LiveKit WebRTC : Gestion native du Full-Duplex (parole simultanée) et du Barge-in (l'IA se tait instantanément dès que l'utilisateur l'interrompt).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Gestion fine de la détection de silence : Configuration de l'option de VAD (Voice Activity Detection) avec un min_delay fixe de 0.8s pour donner le temps au STT de finaliser sa transcription.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Filtre de formatage et d'anti-épellation : Nettoyage automatique par expressions régulières (Regex) des crochets d'émotions [gasp] et conversion des mots en majuscules (ex: MON -&gt; mon) pour éviter que la voix ne les épelle.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Superviseur de résilience : Script run_agent.py surveillant le worker et le relançant automatiquement en moins de 2s en cas de perte de connexion.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L'Avenir : Limites du Speech-to-Speech (Moshi)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10B981"/>
                </a:solidFill>
                <a:latin typeface="Arial"/>
              </a:defRPr>
            </a:pPr>
            <a:r>
              <a:t>6 Verrous Techniques Majeurs à Surmonter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1. Matériel GPU lourd : Requiert 16-24 Go de VRAM dédiée (Helium 7B + Mimi). Coût cloud mensuel récurrent élevé (A100/H100).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2. Couche de transport audio : Nécessité de développer l'interfaçage WebSocket, le codec Mimi et le Jitter Buffer.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3. VAD &amp; Interruption : Obligation de coder des purges de buffers audio instantanées pour couper le flux de l'IA.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4. Windows non supporté : Kyutai cible Linux/macOS. Obligation d'utiliser WSL2 (complexité de partage GPU, latence).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5. Pas de VoIP/SIP natif : Nécessité de développer des ponts RTC complexes pour connecter des téléphones réels.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6. Pas de Function Calling : Analyseur de monologue intérieur obligatoire pour exécuter des actions bancaires.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Conclusion &amp; Perspectives d'Avenir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10B981"/>
                </a:solidFill>
                <a:latin typeface="Arial"/>
              </a:defRPr>
            </a:pPr>
            <a:r>
              <a:t>Feuille de Route pour le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Enrichissement du Dataset de Fine-Tuning : Ajouter des exemples pour apprendre au modèle à résister aux pièges du conseiller, refuser de divulguer des données sensibles, et respecter le contexte.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Stabilisation des checkpints : Automatiser la reprise et sécuriser l'exportation des poids LoRA fins vers Hugging Face.</a:t>
            </a:r>
          </a:p>
          <a:p>
            <a:pPr>
              <a:spcAft>
                <a:spcPts val="1200"/>
              </a:spcAft>
              <a:defRPr sz="1700">
                <a:solidFill>
                  <a:srgbClr val="E2E8F0"/>
                </a:solidFill>
                <a:latin typeface="Arial"/>
              </a:defRPr>
            </a:pPr>
            <a:r>
              <a:t>•  Speech-to-Speech (S2S) : Évaluer la viabilité financière de l'hébergement cloud GPU pour Moshi ou tester l'intégration d'OpenAI Realtime API / Gemini Live API.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